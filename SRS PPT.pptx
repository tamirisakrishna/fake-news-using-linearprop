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7" r:id="rId8"/>
    <p:sldId id="262" r:id="rId9"/>
    <p:sldId id="263"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1/31/2021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Fake News Detection</a:t>
            </a:r>
          </a:p>
        </p:txBody>
      </p:sp>
      <p:sp>
        <p:nvSpPr>
          <p:cNvPr id="3" name="Subtitle 2"/>
          <p:cNvSpPr>
            <a:spLocks noGrp="1"/>
          </p:cNvSpPr>
          <p:nvPr>
            <p:ph type="subTitle" idx="1"/>
          </p:nvPr>
        </p:nvSpPr>
        <p:spPr/>
        <p:txBody>
          <a:bodyPr>
            <a:normAutofit lnSpcReduction="10000"/>
          </a:bodyPr>
          <a:lstStyle/>
          <a:p>
            <a:r>
              <a:rPr lang="en-US" dirty="0"/>
              <a:t>Batch no. 2</a:t>
            </a:r>
          </a:p>
          <a:p>
            <a:r>
              <a:rPr lang="en-US" dirty="0"/>
              <a:t>Guide Name: P. Siva Prasad, </a:t>
            </a:r>
            <a:r>
              <a:rPr lang="en-US" dirty="0" err="1"/>
              <a:t>M.Tech</a:t>
            </a:r>
            <a:endParaRPr lang="en-US" dirty="0"/>
          </a:p>
          <a:p>
            <a:r>
              <a:rPr lang="en-US" dirty="0"/>
              <a:t>			   Asst. Professor</a:t>
            </a:r>
          </a:p>
        </p:txBody>
      </p:sp>
    </p:spTree>
    <p:extLst>
      <p:ext uri="{BB962C8B-B14F-4D97-AF65-F5344CB8AC3E}">
        <p14:creationId xmlns:p14="http://schemas.microsoft.com/office/powerpoint/2010/main" val="1631553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lstStyle/>
          <a:p>
            <a:r>
              <a:rPr lang="en-US" dirty="0"/>
              <a:t>Introduction</a:t>
            </a:r>
          </a:p>
          <a:p>
            <a:r>
              <a:rPr lang="en-US" dirty="0"/>
              <a:t>Product Perspective</a:t>
            </a:r>
          </a:p>
          <a:p>
            <a:r>
              <a:rPr lang="en-US" dirty="0"/>
              <a:t>Operating Environment</a:t>
            </a:r>
          </a:p>
          <a:p>
            <a:r>
              <a:rPr lang="en-US" dirty="0"/>
              <a:t>System Features (One System feature per slide)</a:t>
            </a:r>
          </a:p>
          <a:p>
            <a:r>
              <a:rPr lang="en-US" dirty="0"/>
              <a:t>Software Quality Attributes</a:t>
            </a:r>
          </a:p>
          <a:p>
            <a:r>
              <a:rPr lang="en-US" dirty="0"/>
              <a:t>Analysis Models (USECASE Diagram, CLASSES, Sequence Diagram)</a:t>
            </a:r>
          </a:p>
        </p:txBody>
      </p:sp>
    </p:spTree>
    <p:extLst>
      <p:ext uri="{BB962C8B-B14F-4D97-AF65-F5344CB8AC3E}">
        <p14:creationId xmlns:p14="http://schemas.microsoft.com/office/powerpoint/2010/main" val="413635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828800" y="1597981"/>
            <a:ext cx="9675812" cy="4856085"/>
          </a:xfrm>
        </p:spPr>
        <p:txBody>
          <a:bodyPr>
            <a:normAutofit/>
          </a:bodyPr>
          <a:lstStyle/>
          <a:p>
            <a:pPr algn="just"/>
            <a:r>
              <a:rPr lang="en-US" sz="1800" b="0" i="0" dirty="0">
                <a:effectLst/>
                <a:latin typeface="Calibri" panose="020F0502020204030204" pitchFamily="34" charset="0"/>
              </a:rPr>
              <a:t>Fake news is news or stories created to deliberately misinform or deceive readers.</a:t>
            </a:r>
            <a:r>
              <a:rPr lang="en-US" sz="1800" b="0" i="0" dirty="0">
                <a:solidFill>
                  <a:srgbClr val="202122"/>
                </a:solidFill>
                <a:effectLst/>
                <a:latin typeface="Calibri" panose="020F0502020204030204" pitchFamily="34" charset="0"/>
              </a:rPr>
              <a:t> It often has the aim of damaging the reputation of a person or entity, or making money through advertising revenue. </a:t>
            </a:r>
          </a:p>
          <a:p>
            <a:pPr algn="just"/>
            <a:r>
              <a:rPr lang="en-US" sz="1800" b="0" i="0" u="none" strike="noStrike" dirty="0">
                <a:solidFill>
                  <a:srgbClr val="000000"/>
                </a:solidFill>
                <a:effectLst/>
                <a:latin typeface="Calibri" panose="020F0502020204030204" pitchFamily="34" charset="0"/>
              </a:rPr>
              <a:t>This is generally done to further or impose certain ideas and is often achieved with political agendas.</a:t>
            </a:r>
            <a:r>
              <a:rPr lang="en-US" sz="1800" b="0" i="0" dirty="0">
                <a:solidFill>
                  <a:srgbClr val="181818"/>
                </a:solidFill>
                <a:effectLst/>
                <a:latin typeface="Calibri" panose="020F0502020204030204" pitchFamily="34" charset="0"/>
              </a:rPr>
              <a:t> Minimization of such news is necessary. So, the purpose of the project is to notify users about the genuineness of the news, whether it is real or fake. </a:t>
            </a:r>
          </a:p>
          <a:p>
            <a:pPr algn="just"/>
            <a:r>
              <a:rPr lang="en-US" sz="1800" b="0" i="0" u="none" strike="noStrike" dirty="0">
                <a:solidFill>
                  <a:srgbClr val="000000"/>
                </a:solidFill>
                <a:effectLst/>
                <a:latin typeface="Calibri" panose="020F0502020204030204" pitchFamily="34" charset="0"/>
              </a:rPr>
              <a:t>There are already some websites which identify fake news and write about them and there are websites which can identify if it is fake news when you enter the news article title. </a:t>
            </a:r>
          </a:p>
          <a:p>
            <a:pPr algn="just"/>
            <a:r>
              <a:rPr lang="en-US" sz="1800" b="0" i="0" u="none" strike="noStrike" dirty="0">
                <a:solidFill>
                  <a:srgbClr val="000000"/>
                </a:solidFill>
                <a:effectLst/>
                <a:latin typeface="Calibri" panose="020F0502020204030204" pitchFamily="34" charset="0"/>
              </a:rPr>
              <a:t>This is often limited, because websites write only about fake news in specific regions, which makes them difficult to identify and verify. And, also most people won’t visit another site to verify something. </a:t>
            </a:r>
          </a:p>
          <a:p>
            <a:pPr algn="just"/>
            <a:r>
              <a:rPr lang="en-US" sz="1800" b="0" i="0" u="none" strike="noStrike" dirty="0">
                <a:solidFill>
                  <a:srgbClr val="000000"/>
                </a:solidFill>
                <a:effectLst/>
                <a:latin typeface="Calibri" panose="020F0502020204030204" pitchFamily="34" charset="0"/>
              </a:rPr>
              <a:t>The scope of the project is to automate all this process. It automatically reads text from web page containing news articles and verifies it in the background without redirecting to any other page and then notifies the user whether it is fake or not. This makes it easy for the user as well. Our project also accepts feedback from the users.</a:t>
            </a:r>
            <a:r>
              <a:rPr lang="en-US" sz="1800" b="0" i="0" dirty="0">
                <a:solidFill>
                  <a:srgbClr val="000000"/>
                </a:solidFill>
                <a:effectLst/>
                <a:latin typeface="Calibri" panose="020F0502020204030204" pitchFamily="34" charset="0"/>
              </a:rPr>
              <a:t> </a:t>
            </a:r>
            <a:endParaRPr lang="en-US" dirty="0"/>
          </a:p>
        </p:txBody>
      </p:sp>
    </p:spTree>
    <p:extLst>
      <p:ext uri="{BB962C8B-B14F-4D97-AF65-F5344CB8AC3E}">
        <p14:creationId xmlns:p14="http://schemas.microsoft.com/office/powerpoint/2010/main" val="60591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Perspective</a:t>
            </a:r>
          </a:p>
        </p:txBody>
      </p:sp>
      <p:sp>
        <p:nvSpPr>
          <p:cNvPr id="3" name="Content Placeholder 2"/>
          <p:cNvSpPr>
            <a:spLocks noGrp="1"/>
          </p:cNvSpPr>
          <p:nvPr>
            <p:ph idx="1"/>
          </p:nvPr>
        </p:nvSpPr>
        <p:spPr/>
        <p:txBody>
          <a:bodyPr/>
          <a:lstStyle/>
          <a:p>
            <a:pPr algn="just"/>
            <a:r>
              <a:rPr lang="en-US" sz="1800" b="0" i="0" dirty="0">
                <a:solidFill>
                  <a:srgbClr val="000000"/>
                </a:solidFill>
                <a:effectLst/>
                <a:latin typeface="Calibri" panose="020F0502020204030204" pitchFamily="34" charset="0"/>
              </a:rPr>
              <a:t>Analyzing and detecting fake news is an arbitrary problem to be solved. Recently, Fake News had been an important talk in public and researchers due to online media outlets like social media feeds, blogs, and online newspaper. </a:t>
            </a:r>
          </a:p>
          <a:p>
            <a:pPr algn="just"/>
            <a:r>
              <a:rPr lang="en-US" sz="1800" b="0" i="0" dirty="0">
                <a:solidFill>
                  <a:srgbClr val="000000"/>
                </a:solidFill>
                <a:effectLst/>
                <a:latin typeface="Calibri" panose="020F0502020204030204" pitchFamily="34" charset="0"/>
              </a:rPr>
              <a:t>To minimize the effects of such news, we must verify news. Purpose of the project is to detect fake news.</a:t>
            </a:r>
          </a:p>
          <a:p>
            <a:pPr algn="just"/>
            <a:r>
              <a:rPr lang="en-US" sz="1800" b="0" i="0" dirty="0">
                <a:solidFill>
                  <a:srgbClr val="000000"/>
                </a:solidFill>
                <a:effectLst/>
                <a:latin typeface="Calibri" panose="020F0502020204030204" pitchFamily="34" charset="0"/>
              </a:rPr>
              <a:t> The proposed fake news detection helps to notify the user that the article they have read on a website is real or fake using browser extension with Machine learning model working in the back ground. </a:t>
            </a:r>
            <a:endParaRPr lang="en-US" dirty="0"/>
          </a:p>
        </p:txBody>
      </p:sp>
    </p:spTree>
    <p:extLst>
      <p:ext uri="{BB962C8B-B14F-4D97-AF65-F5344CB8AC3E}">
        <p14:creationId xmlns:p14="http://schemas.microsoft.com/office/powerpoint/2010/main" val="31860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Environment</a:t>
            </a:r>
          </a:p>
        </p:txBody>
      </p:sp>
      <p:sp>
        <p:nvSpPr>
          <p:cNvPr id="3" name="Content Placeholder 2"/>
          <p:cNvSpPr>
            <a:spLocks noGrp="1"/>
          </p:cNvSpPr>
          <p:nvPr>
            <p:ph idx="1"/>
          </p:nvPr>
        </p:nvSpPr>
        <p:spPr/>
        <p:txBody>
          <a:bodyPr/>
          <a:lstStyle/>
          <a:p>
            <a:pPr algn="just"/>
            <a:r>
              <a:rPr lang="en-US" sz="1800" b="0" i="0" dirty="0">
                <a:effectLst/>
                <a:latin typeface="Calibri" panose="020F0502020204030204" pitchFamily="34" charset="0"/>
              </a:rPr>
              <a:t>A browser extension is a small software application that adds a capacity or functionality to a web browser. The operating environment for the software is a web browser.</a:t>
            </a:r>
            <a:endParaRPr lang="en-US" dirty="0"/>
          </a:p>
        </p:txBody>
      </p:sp>
    </p:spTree>
    <p:extLst>
      <p:ext uri="{BB962C8B-B14F-4D97-AF65-F5344CB8AC3E}">
        <p14:creationId xmlns:p14="http://schemas.microsoft.com/office/powerpoint/2010/main" val="709597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1: Verification of News</a:t>
            </a:r>
          </a:p>
        </p:txBody>
      </p:sp>
      <p:sp>
        <p:nvSpPr>
          <p:cNvPr id="3" name="Content Placeholder 2"/>
          <p:cNvSpPr>
            <a:spLocks noGrp="1"/>
          </p:cNvSpPr>
          <p:nvPr>
            <p:ph idx="1"/>
          </p:nvPr>
        </p:nvSpPr>
        <p:spPr>
          <a:xfrm>
            <a:off x="1793289" y="1740022"/>
            <a:ext cx="9711323" cy="4864963"/>
          </a:xfrm>
        </p:spPr>
        <p:txBody>
          <a:bodyPr>
            <a:normAutofit fontScale="77500" lnSpcReduction="20000"/>
          </a:bodyPr>
          <a:lstStyle/>
          <a:p>
            <a:pPr algn="just" rtl="0" fontAlgn="base"/>
            <a:r>
              <a:rPr lang="en-US" sz="2200" b="1" i="0" dirty="0">
                <a:solidFill>
                  <a:srgbClr val="4F81BD"/>
                </a:solidFill>
                <a:effectLst/>
                <a:latin typeface="Arial" panose="020B0604020202020204" pitchFamily="34" charset="0"/>
              </a:rPr>
              <a:t>Description and Priority</a:t>
            </a:r>
            <a:r>
              <a:rPr lang="en-US" sz="2200" b="0" i="0" dirty="0">
                <a:solidFill>
                  <a:srgbClr val="4F81BD"/>
                </a:solidFill>
                <a:effectLst/>
                <a:latin typeface="Arial" panose="020B0604020202020204" pitchFamily="34" charset="0"/>
              </a:rPr>
              <a:t> </a:t>
            </a:r>
          </a:p>
          <a:p>
            <a:pPr algn="just" rtl="0" fontAlgn="base">
              <a:buFont typeface="Arial" panose="020B0604020202020204" pitchFamily="34" charset="0"/>
              <a:buChar char="•"/>
            </a:pPr>
            <a:r>
              <a:rPr lang="en-US" sz="2200" b="0" i="0" dirty="0">
                <a:solidFill>
                  <a:srgbClr val="000000"/>
                </a:solidFill>
                <a:effectLst/>
                <a:latin typeface="Calibri" panose="020F0502020204030204" pitchFamily="34" charset="0"/>
              </a:rPr>
              <a:t>Data extracted from the news article on the web page is subject to the ML model.</a:t>
            </a:r>
          </a:p>
          <a:p>
            <a:pPr algn="just" rtl="0" fontAlgn="base">
              <a:buFont typeface="Arial" panose="020B0604020202020204" pitchFamily="34" charset="0"/>
              <a:buChar char="•"/>
            </a:pPr>
            <a:r>
              <a:rPr lang="en-US" sz="2200" b="0" i="0" dirty="0">
                <a:solidFill>
                  <a:srgbClr val="000000"/>
                </a:solidFill>
                <a:effectLst/>
                <a:latin typeface="Calibri" panose="020F0502020204030204" pitchFamily="34" charset="0"/>
              </a:rPr>
              <a:t>Verification of news is done with the help of a Machine Learning model in the background which uses three widely used machine learning methods: Naive Bayes Classifier, Passive Aggressive Classifier and TFIDF Vectorizer. </a:t>
            </a:r>
          </a:p>
          <a:p>
            <a:pPr algn="just" rtl="0" fontAlgn="base">
              <a:buFont typeface="Arial" panose="020B0604020202020204" pitchFamily="34" charset="0"/>
              <a:buChar char="•"/>
            </a:pPr>
            <a:r>
              <a:rPr lang="en-US" sz="2200" b="0" i="0" dirty="0">
                <a:solidFill>
                  <a:srgbClr val="000000"/>
                </a:solidFill>
                <a:effectLst/>
                <a:latin typeface="Calibri" panose="020F0502020204030204" pitchFamily="34" charset="0"/>
              </a:rPr>
              <a:t>This is a classic text classification problem with a straightforward proposition. This feature has the highest priority.  </a:t>
            </a:r>
            <a:endParaRPr lang="en-US" sz="2200" b="0" i="0" dirty="0">
              <a:solidFill>
                <a:srgbClr val="000000"/>
              </a:solidFill>
              <a:effectLst/>
              <a:latin typeface="Times New Roman" panose="02020603050405020304" pitchFamily="18" charset="0"/>
            </a:endParaRPr>
          </a:p>
          <a:p>
            <a:pPr algn="just" rtl="0" fontAlgn="base"/>
            <a:r>
              <a:rPr lang="en-US" sz="1800" b="1" i="0" dirty="0">
                <a:solidFill>
                  <a:srgbClr val="4F81BD"/>
                </a:solidFill>
                <a:effectLst/>
                <a:latin typeface="Arial" panose="020B0604020202020204" pitchFamily="34" charset="0"/>
              </a:rPr>
              <a:t> </a:t>
            </a:r>
            <a:r>
              <a:rPr lang="en-US" sz="2200" b="1" i="0" dirty="0">
                <a:solidFill>
                  <a:srgbClr val="4F81BD"/>
                </a:solidFill>
                <a:effectLst/>
                <a:latin typeface="Arial" panose="020B0604020202020204" pitchFamily="34" charset="0"/>
              </a:rPr>
              <a:t>Stimulus/Response Sequences</a:t>
            </a:r>
            <a:r>
              <a:rPr lang="en-US" sz="2200" b="0" i="0" dirty="0">
                <a:solidFill>
                  <a:srgbClr val="4F81BD"/>
                </a:solidFill>
                <a:effectLst/>
                <a:latin typeface="Arial" panose="020B0604020202020204" pitchFamily="34" charset="0"/>
              </a:rPr>
              <a:t> </a:t>
            </a:r>
          </a:p>
          <a:p>
            <a:pPr algn="just" rtl="0" fontAlgn="base">
              <a:buFont typeface="Arial" panose="020B0604020202020204" pitchFamily="34" charset="0"/>
              <a:buChar char="•"/>
            </a:pPr>
            <a:r>
              <a:rPr lang="en-US" sz="2200" b="0" i="0" dirty="0">
                <a:solidFill>
                  <a:srgbClr val="000000"/>
                </a:solidFill>
                <a:effectLst/>
                <a:latin typeface="Calibri" panose="020F0502020204030204" pitchFamily="34" charset="0"/>
              </a:rPr>
              <a:t>When a user opens the web page to read a news article, processing the news article is done in background and a popup window will display as a response. </a:t>
            </a:r>
          </a:p>
          <a:p>
            <a:pPr algn="just" rtl="0" fontAlgn="base">
              <a:buFont typeface="Arial" panose="020B0604020202020204" pitchFamily="34" charset="0"/>
              <a:buChar char="•"/>
            </a:pPr>
            <a:r>
              <a:rPr lang="en-US" sz="2200" b="0" i="0" dirty="0">
                <a:solidFill>
                  <a:srgbClr val="000000"/>
                </a:solidFill>
                <a:effectLst/>
                <a:latin typeface="Calibri" panose="020F0502020204030204" pitchFamily="34" charset="0"/>
              </a:rPr>
              <a:t>There are no other sequences because all the process is automated and runs in the background.</a:t>
            </a:r>
            <a:r>
              <a:rPr lang="en-US" sz="1800" b="0" i="0" dirty="0">
                <a:solidFill>
                  <a:srgbClr val="000000"/>
                </a:solidFill>
                <a:effectLst/>
                <a:latin typeface="Calibri" panose="020F0502020204030204" pitchFamily="34" charset="0"/>
              </a:rPr>
              <a:t> </a:t>
            </a:r>
            <a:endParaRPr lang="en-US" b="0" i="0" dirty="0">
              <a:solidFill>
                <a:srgbClr val="000000"/>
              </a:solidFill>
              <a:effectLst/>
              <a:latin typeface="Times New Roman" panose="02020603050405020304" pitchFamily="18" charset="0"/>
            </a:endParaRPr>
          </a:p>
          <a:p>
            <a:pPr algn="just" rtl="0" fontAlgn="base"/>
            <a:r>
              <a:rPr lang="en-US" sz="2200" b="1" i="0" dirty="0">
                <a:solidFill>
                  <a:srgbClr val="4F81BD"/>
                </a:solidFill>
                <a:effectLst/>
                <a:latin typeface="Arial" panose="020B0604020202020204" pitchFamily="34" charset="0"/>
              </a:rPr>
              <a:t>Functional Requirements</a:t>
            </a:r>
            <a:r>
              <a:rPr lang="en-US" sz="2200" b="0" i="0" dirty="0">
                <a:solidFill>
                  <a:srgbClr val="4F81BD"/>
                </a:solidFill>
                <a:effectLst/>
                <a:latin typeface="Arial" panose="020B0604020202020204" pitchFamily="34" charset="0"/>
              </a:rPr>
              <a:t> </a:t>
            </a:r>
          </a:p>
          <a:p>
            <a:pPr algn="just" fontAlgn="base">
              <a:buFont typeface="Arial" panose="020B0604020202020204" pitchFamily="34" charset="0"/>
              <a:buChar char="•"/>
            </a:pPr>
            <a:r>
              <a:rPr lang="en-US" sz="2200" b="0" i="0" dirty="0">
                <a:solidFill>
                  <a:srgbClr val="000000"/>
                </a:solidFill>
                <a:effectLst/>
                <a:latin typeface="Calibri" panose="020F0502020204030204" pitchFamily="34" charset="0"/>
              </a:rPr>
              <a:t>A web extension has to be added to the web browser. </a:t>
            </a:r>
            <a:endParaRPr lang="en-US" sz="2200" b="0" i="0" dirty="0">
              <a:solidFill>
                <a:srgbClr val="000000"/>
              </a:solidFill>
              <a:effectLst/>
              <a:latin typeface="Arial" panose="020B0604020202020204" pitchFamily="34" charset="0"/>
            </a:endParaRPr>
          </a:p>
          <a:p>
            <a:pPr algn="just" fontAlgn="base">
              <a:buFont typeface="Arial" panose="020B0604020202020204" pitchFamily="34" charset="0"/>
              <a:buChar char="•"/>
            </a:pPr>
            <a:r>
              <a:rPr lang="en-US" sz="2200" b="0" i="0" dirty="0">
                <a:solidFill>
                  <a:srgbClr val="000000"/>
                </a:solidFill>
                <a:effectLst/>
                <a:latin typeface="Calibri" panose="020F0502020204030204" pitchFamily="34" charset="0"/>
              </a:rPr>
              <a:t>Detection fake news has to be done and inform the user about it. </a:t>
            </a:r>
          </a:p>
          <a:p>
            <a:pPr algn="just" fontAlgn="base">
              <a:buFont typeface="Arial" panose="020B0604020202020204" pitchFamily="34" charset="0"/>
              <a:buChar char="•"/>
            </a:pPr>
            <a:r>
              <a:rPr lang="en-US" sz="2200" b="0" i="0" dirty="0">
                <a:solidFill>
                  <a:srgbClr val="000000"/>
                </a:solidFill>
                <a:effectLst/>
                <a:latin typeface="Calibri" panose="020F0502020204030204" pitchFamily="34" charset="0"/>
              </a:rPr>
              <a:t>A </a:t>
            </a:r>
            <a:r>
              <a:rPr lang="en-US" sz="2200" b="0" i="0" dirty="0" err="1">
                <a:solidFill>
                  <a:srgbClr val="000000"/>
                </a:solidFill>
                <a:effectLst/>
                <a:latin typeface="Calibri" panose="020F0502020204030204" pitchFamily="34" charset="0"/>
              </a:rPr>
              <a:t>genuinity</a:t>
            </a:r>
            <a:r>
              <a:rPr lang="en-US" sz="2200" b="0" i="0" dirty="0">
                <a:solidFill>
                  <a:srgbClr val="000000"/>
                </a:solidFill>
                <a:effectLst/>
                <a:latin typeface="Calibri" panose="020F0502020204030204" pitchFamily="34" charset="0"/>
              </a:rPr>
              <a:t> meter has to be used to inform the user about the genuineness of the news. </a:t>
            </a:r>
            <a:endParaRPr lang="en-US" sz="2200" b="0" i="0"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2177769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81EE-2A82-42C5-9933-BDF6D796C370}"/>
              </a:ext>
            </a:extLst>
          </p:cNvPr>
          <p:cNvSpPr>
            <a:spLocks noGrp="1"/>
          </p:cNvSpPr>
          <p:nvPr>
            <p:ph type="title"/>
          </p:nvPr>
        </p:nvSpPr>
        <p:spPr/>
        <p:txBody>
          <a:bodyPr/>
          <a:lstStyle/>
          <a:p>
            <a:r>
              <a:rPr lang="en-US" dirty="0"/>
              <a:t>Feature 2: </a:t>
            </a:r>
            <a:r>
              <a:rPr lang="en-US" dirty="0" err="1"/>
              <a:t>FeedBack</a:t>
            </a:r>
            <a:endParaRPr lang="en-IN" dirty="0"/>
          </a:p>
        </p:txBody>
      </p:sp>
      <p:sp>
        <p:nvSpPr>
          <p:cNvPr id="3" name="Content Placeholder 2">
            <a:extLst>
              <a:ext uri="{FF2B5EF4-FFF2-40B4-BE49-F238E27FC236}">
                <a16:creationId xmlns:a16="http://schemas.microsoft.com/office/drawing/2014/main" id="{4099997A-270D-4D6B-ABA4-D7CFBEF6AFA8}"/>
              </a:ext>
            </a:extLst>
          </p:cNvPr>
          <p:cNvSpPr>
            <a:spLocks noGrp="1"/>
          </p:cNvSpPr>
          <p:nvPr>
            <p:ph idx="1"/>
          </p:nvPr>
        </p:nvSpPr>
        <p:spPr>
          <a:xfrm>
            <a:off x="2592924" y="1905000"/>
            <a:ext cx="8911687" cy="4006222"/>
          </a:xfrm>
        </p:spPr>
        <p:txBody>
          <a:bodyPr>
            <a:normAutofit fontScale="92500" lnSpcReduction="10000"/>
          </a:bodyPr>
          <a:lstStyle/>
          <a:p>
            <a:pPr algn="just" fontAlgn="base"/>
            <a:r>
              <a:rPr lang="en-US" sz="1800" b="1" i="0" dirty="0">
                <a:solidFill>
                  <a:srgbClr val="4F80BD"/>
                </a:solidFill>
                <a:effectLst/>
                <a:latin typeface="Arial" panose="020B0604020202020204" pitchFamily="34" charset="0"/>
              </a:rPr>
              <a:t>Description and Priority</a:t>
            </a:r>
            <a:r>
              <a:rPr lang="en-US" sz="1800" b="0" i="0" dirty="0">
                <a:solidFill>
                  <a:srgbClr val="4F80BD"/>
                </a:solidFill>
                <a:effectLst/>
                <a:latin typeface="Arial" panose="020B0604020202020204" pitchFamily="34" charset="0"/>
              </a:rPr>
              <a:t> </a:t>
            </a:r>
            <a:endParaRPr lang="en-US" dirty="0">
              <a:solidFill>
                <a:srgbClr val="000000"/>
              </a:solidFill>
              <a:latin typeface="Arial" panose="020B0604020202020204" pitchFamily="34" charset="0"/>
            </a:endParaRPr>
          </a:p>
          <a:p>
            <a:pPr algn="just" fontAlgn="base">
              <a:buFont typeface="Arial" panose="020B0604020202020204" pitchFamily="34" charset="0"/>
              <a:buChar char="•"/>
            </a:pPr>
            <a:r>
              <a:rPr lang="en-US" b="0" i="0" dirty="0">
                <a:solidFill>
                  <a:srgbClr val="000000"/>
                </a:solidFill>
                <a:effectLst/>
                <a:latin typeface="Calibri" panose="020F0502020204030204" pitchFamily="34" charset="0"/>
              </a:rPr>
              <a:t>The user can inform us about the accuracy of the results if they are aware about the </a:t>
            </a:r>
            <a:r>
              <a:rPr lang="en-US" b="0" i="0" dirty="0" err="1">
                <a:solidFill>
                  <a:srgbClr val="000000"/>
                </a:solidFill>
                <a:effectLst/>
                <a:latin typeface="Calibri" panose="020F0502020204030204" pitchFamily="34" charset="0"/>
              </a:rPr>
              <a:t>genuinity</a:t>
            </a:r>
            <a:r>
              <a:rPr lang="en-US" b="0" i="0" dirty="0">
                <a:solidFill>
                  <a:srgbClr val="000000"/>
                </a:solidFill>
                <a:effectLst/>
                <a:latin typeface="Calibri" panose="020F0502020204030204" pitchFamily="34" charset="0"/>
              </a:rPr>
              <a:t> of the article. </a:t>
            </a:r>
          </a:p>
          <a:p>
            <a:pPr algn="just" rtl="0" fontAlgn="base">
              <a:buFont typeface="Arial" panose="020B0604020202020204" pitchFamily="34" charset="0"/>
              <a:buChar char="•"/>
            </a:pPr>
            <a:r>
              <a:rPr lang="en-US" b="0" i="0" dirty="0">
                <a:solidFill>
                  <a:srgbClr val="000000"/>
                </a:solidFill>
                <a:effectLst/>
                <a:latin typeface="Calibri" panose="020F0502020204030204" pitchFamily="34" charset="0"/>
              </a:rPr>
              <a:t>This Feedback helps us to improvise our training dataset and accuracy rates. </a:t>
            </a:r>
            <a:endParaRPr lang="en-US" b="0" i="0" dirty="0">
              <a:solidFill>
                <a:srgbClr val="000000"/>
              </a:solidFill>
              <a:effectLst/>
              <a:latin typeface="Segoe UI" panose="020B0502040204020203" pitchFamily="34" charset="0"/>
            </a:endParaRPr>
          </a:p>
          <a:p>
            <a:pPr algn="just" fontAlgn="base"/>
            <a:r>
              <a:rPr lang="en-US" sz="1800" b="1" i="0" dirty="0">
                <a:solidFill>
                  <a:srgbClr val="4F80BD"/>
                </a:solidFill>
                <a:effectLst/>
                <a:latin typeface="Arial" panose="020B0604020202020204" pitchFamily="34" charset="0"/>
              </a:rPr>
              <a:t>Stimulus/Response Sequences</a:t>
            </a:r>
            <a:r>
              <a:rPr lang="en-US" sz="1800" b="0" i="0" dirty="0">
                <a:solidFill>
                  <a:srgbClr val="4F80BD"/>
                </a:solidFill>
                <a:effectLst/>
                <a:latin typeface="Arial" panose="020B0604020202020204" pitchFamily="34" charset="0"/>
              </a:rPr>
              <a:t> </a:t>
            </a:r>
            <a:endParaRPr lang="en-US" sz="1800" b="0" i="0" dirty="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sz="1800" b="0" i="0" dirty="0">
                <a:solidFill>
                  <a:srgbClr val="000000"/>
                </a:solidFill>
                <a:effectLst/>
                <a:latin typeface="Calibri" panose="020F0502020204030204" pitchFamily="34" charset="0"/>
              </a:rPr>
              <a:t>User provides their feedback in the Feedback column (If they want to). </a:t>
            </a:r>
          </a:p>
          <a:p>
            <a:pPr algn="just" rtl="0" fontAlgn="base">
              <a:buFont typeface="Arial" panose="020B0604020202020204" pitchFamily="34" charset="0"/>
              <a:buChar char="•"/>
            </a:pPr>
            <a:r>
              <a:rPr lang="en-US" dirty="0">
                <a:solidFill>
                  <a:srgbClr val="000000"/>
                </a:solidFill>
                <a:latin typeface="Calibri" panose="020F0502020204030204" pitchFamily="34" charset="0"/>
              </a:rPr>
              <a:t>Response to that is a massage will be displayed, thanking the user for the feedback submitted.</a:t>
            </a:r>
            <a:endParaRPr lang="en-US" sz="1800" b="0" i="0" dirty="0">
              <a:solidFill>
                <a:srgbClr val="000000"/>
              </a:solidFill>
              <a:effectLst/>
              <a:latin typeface="Arial" panose="020B0604020202020204" pitchFamily="34" charset="0"/>
            </a:endParaRPr>
          </a:p>
          <a:p>
            <a:pPr algn="just" rtl="0" fontAlgn="base"/>
            <a:r>
              <a:rPr lang="en-US" sz="1800" b="1" i="0" dirty="0">
                <a:solidFill>
                  <a:srgbClr val="4F80BD"/>
                </a:solidFill>
                <a:effectLst/>
                <a:latin typeface="Arial" panose="020B0604020202020204" pitchFamily="34" charset="0"/>
              </a:rPr>
              <a:t>Functional Requirements </a:t>
            </a:r>
            <a:r>
              <a:rPr lang="en-US" sz="1800" b="0" i="0" dirty="0">
                <a:solidFill>
                  <a:srgbClr val="000000"/>
                </a:solidFill>
                <a:effectLst/>
                <a:latin typeface="Calibri" panose="020F0502020204030204" pitchFamily="34" charset="0"/>
              </a:rPr>
              <a:t> </a:t>
            </a:r>
            <a:endParaRPr lang="en-IN" sz="1800" b="0" i="0" dirty="0">
              <a:solidFill>
                <a:srgbClr val="000000"/>
              </a:solidFill>
              <a:effectLst/>
              <a:latin typeface="Calibri" panose="020F0502020204030204" pitchFamily="34" charset="0"/>
              <a:cs typeface="Calibri" panose="020F0502020204030204" pitchFamily="34" charset="0"/>
            </a:endParaRPr>
          </a:p>
          <a:p>
            <a:pPr algn="just" rtl="0" fontAlgn="base">
              <a:buFont typeface="Arial" panose="020B0604020202020204" pitchFamily="34" charset="0"/>
              <a:buChar char="•"/>
            </a:pPr>
            <a:r>
              <a:rPr lang="en-IN" dirty="0">
                <a:solidFill>
                  <a:srgbClr val="000000"/>
                </a:solidFill>
                <a:latin typeface="Calibri" panose="020F0502020204030204" pitchFamily="34" charset="0"/>
                <a:cs typeface="Calibri" panose="020F0502020204030204" pitchFamily="34" charset="0"/>
              </a:rPr>
              <a:t>Comments or feedback from the user.</a:t>
            </a:r>
          </a:p>
          <a:p>
            <a:pPr algn="just" rtl="0" fontAlgn="base">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A pop-up window for the feedback form.</a:t>
            </a:r>
          </a:p>
          <a:p>
            <a:pPr algn="just" rtl="0" fontAlgn="base">
              <a:buFont typeface="Arial" panose="020B0604020202020204" pitchFamily="34" charset="0"/>
              <a:buChar char="•"/>
            </a:pPr>
            <a:r>
              <a:rPr lang="en-IN" dirty="0">
                <a:solidFill>
                  <a:srgbClr val="000000"/>
                </a:solidFill>
                <a:latin typeface="Calibri" panose="020F0502020204030204" pitchFamily="34" charset="0"/>
                <a:cs typeface="Calibri" panose="020F0502020204030204" pitchFamily="34" charset="0"/>
              </a:rPr>
              <a:t>Displaying the message after user had submitted the feedback form.</a:t>
            </a: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417011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Quality Attributes</a:t>
            </a:r>
          </a:p>
        </p:txBody>
      </p:sp>
      <p:sp>
        <p:nvSpPr>
          <p:cNvPr id="3" name="Content Placeholder 2"/>
          <p:cNvSpPr>
            <a:spLocks noGrp="1"/>
          </p:cNvSpPr>
          <p:nvPr>
            <p:ph idx="1"/>
          </p:nvPr>
        </p:nvSpPr>
        <p:spPr/>
        <p:txBody>
          <a:bodyPr/>
          <a:lstStyle/>
          <a:p>
            <a:pPr algn="just"/>
            <a:r>
              <a:rPr lang="en-US" sz="1800" b="0" i="0" dirty="0">
                <a:solidFill>
                  <a:srgbClr val="000000"/>
                </a:solidFill>
                <a:effectLst/>
                <a:latin typeface="Calibri" panose="020F0502020204030204" pitchFamily="34" charset="0"/>
              </a:rPr>
              <a:t>Accuracy: Accuracy is the degree of closeness to the true value. Confusion matrix and Accuracy score are used as metrics for calculating accuracy. </a:t>
            </a:r>
            <a:endParaRPr lang="en-US" dirty="0"/>
          </a:p>
        </p:txBody>
      </p:sp>
    </p:spTree>
    <p:extLst>
      <p:ext uri="{BB962C8B-B14F-4D97-AF65-F5344CB8AC3E}">
        <p14:creationId xmlns:p14="http://schemas.microsoft.com/office/powerpoint/2010/main" val="2866741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USECASE Diagram</a:t>
            </a:r>
          </a:p>
        </p:txBody>
      </p:sp>
      <p:pic>
        <p:nvPicPr>
          <p:cNvPr id="9" name="Content Placeholder 8">
            <a:extLst>
              <a:ext uri="{FF2B5EF4-FFF2-40B4-BE49-F238E27FC236}">
                <a16:creationId xmlns:a16="http://schemas.microsoft.com/office/drawing/2014/main" id="{41B30278-138F-46E5-B306-148A8AD35C04}"/>
              </a:ext>
            </a:extLst>
          </p:cNvPr>
          <p:cNvPicPr>
            <a:picLocks noGrp="1" noChangeAspect="1"/>
          </p:cNvPicPr>
          <p:nvPr>
            <p:ph idx="1"/>
          </p:nvPr>
        </p:nvPicPr>
        <p:blipFill>
          <a:blip r:embed="rId2"/>
          <a:stretch>
            <a:fillRect/>
          </a:stretch>
        </p:blipFill>
        <p:spPr>
          <a:xfrm>
            <a:off x="3400147" y="1746293"/>
            <a:ext cx="5709958" cy="4227700"/>
          </a:xfrm>
        </p:spPr>
      </p:pic>
    </p:spTree>
    <p:extLst>
      <p:ext uri="{BB962C8B-B14F-4D97-AF65-F5344CB8AC3E}">
        <p14:creationId xmlns:p14="http://schemas.microsoft.com/office/powerpoint/2010/main" val="4110681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pic>
        <p:nvPicPr>
          <p:cNvPr id="5" name="Content Placeholder 4">
            <a:extLst>
              <a:ext uri="{FF2B5EF4-FFF2-40B4-BE49-F238E27FC236}">
                <a16:creationId xmlns:a16="http://schemas.microsoft.com/office/drawing/2014/main" id="{4D3FC2D7-AC07-4A4D-B757-BAD7A4FD52BD}"/>
              </a:ext>
            </a:extLst>
          </p:cNvPr>
          <p:cNvPicPr>
            <a:picLocks noGrp="1" noChangeAspect="1"/>
          </p:cNvPicPr>
          <p:nvPr>
            <p:ph idx="1"/>
          </p:nvPr>
        </p:nvPicPr>
        <p:blipFill>
          <a:blip r:embed="rId2"/>
          <a:stretch>
            <a:fillRect/>
          </a:stretch>
        </p:blipFill>
        <p:spPr>
          <a:xfrm>
            <a:off x="3524436" y="1763738"/>
            <a:ext cx="5425386" cy="4334543"/>
          </a:xfrm>
        </p:spPr>
      </p:pic>
    </p:spTree>
    <p:extLst>
      <p:ext uri="{BB962C8B-B14F-4D97-AF65-F5344CB8AC3E}">
        <p14:creationId xmlns:p14="http://schemas.microsoft.com/office/powerpoint/2010/main" val="2145060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9212" y="2280821"/>
            <a:ext cx="8915399" cy="1468800"/>
          </a:xfrm>
        </p:spPr>
        <p:txBody>
          <a:bodyPr/>
          <a:lstStyle/>
          <a:p>
            <a:r>
              <a:rPr lang="en-US" dirty="0"/>
              <a:t>Questions?</a:t>
            </a:r>
          </a:p>
        </p:txBody>
      </p:sp>
    </p:spTree>
    <p:extLst>
      <p:ext uri="{BB962C8B-B14F-4D97-AF65-F5344CB8AC3E}">
        <p14:creationId xmlns:p14="http://schemas.microsoft.com/office/powerpoint/2010/main" val="290135518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403</TotalTime>
  <Words>734</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Segoe UI</vt:lpstr>
      <vt:lpstr>Times New Roman</vt:lpstr>
      <vt:lpstr>Wingdings 3</vt:lpstr>
      <vt:lpstr>Wisp</vt:lpstr>
      <vt:lpstr>Fake News Detection</vt:lpstr>
      <vt:lpstr>Contents</vt:lpstr>
      <vt:lpstr>Introduction</vt:lpstr>
      <vt:lpstr>Product Perspective</vt:lpstr>
      <vt:lpstr>Operating Environment</vt:lpstr>
      <vt:lpstr>Feature 1: Verification of News</vt:lpstr>
      <vt:lpstr>Feature 2: FeedBack</vt:lpstr>
      <vt:lpstr>Software Quality Attributes</vt:lpstr>
      <vt:lpstr>USECASE Diagram</vt:lpstr>
      <vt:lpstr>Activity diagram</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Madhu Babu Janjanam</dc:creator>
  <cp:lastModifiedBy>17BQ1A05J8</cp:lastModifiedBy>
  <cp:revision>16</cp:revision>
  <dcterms:created xsi:type="dcterms:W3CDTF">2019-01-02T08:15:23Z</dcterms:created>
  <dcterms:modified xsi:type="dcterms:W3CDTF">2021-01-31T09:07:02Z</dcterms:modified>
</cp:coreProperties>
</file>